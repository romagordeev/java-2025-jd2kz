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71" r:id="rId10"/>
    <p:sldId id="266" r:id="rId11"/>
    <p:sldId id="273" r:id="rId12"/>
    <p:sldId id="267" r:id="rId13"/>
    <p:sldId id="264" r:id="rId14"/>
    <p:sldId id="268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2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19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1512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37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143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608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697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773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770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557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553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297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14B8DDF-864E-407D-8D1F-944759E88D7F}" type="datetimeFigureOut">
              <a:rPr lang="tr-TR" smtClean="0"/>
              <a:t>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A440AC-3DDF-4185-86FA-528C2B8E811E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18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B5EAEC-F8EC-4B88-86C3-B05A8B07D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Java </a:t>
            </a:r>
            <a:r>
              <a:rPr lang="az-Cyrl-AZ" dirty="0"/>
              <a:t>в машинном обучении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BDB25D2-82ED-418A-8A1B-6573FBDD38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z-Cyrl-AZ" dirty="0">
                <a:solidFill>
                  <a:srgbClr val="9B2D1F"/>
                </a:solidFill>
              </a:rPr>
              <a:t>Сель Мехмет Гокхан</a:t>
            </a:r>
            <a:br>
              <a:rPr lang="tr-TR" dirty="0">
                <a:solidFill>
                  <a:srgbClr val="9B2D1F"/>
                </a:solidFill>
              </a:rPr>
            </a:br>
            <a:r>
              <a:rPr lang="tr-TR" dirty="0">
                <a:solidFill>
                  <a:srgbClr val="9B2D1F"/>
                </a:solidFill>
              </a:rPr>
              <a:t>5030102/30101</a:t>
            </a:r>
          </a:p>
        </p:txBody>
      </p:sp>
    </p:spTree>
    <p:extLst>
      <p:ext uri="{BB962C8B-B14F-4D97-AF65-F5344CB8AC3E}">
        <p14:creationId xmlns:p14="http://schemas.microsoft.com/office/powerpoint/2010/main" val="42248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E8ADEE-64F0-4D1D-A927-6B00CBBF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z-Cyrl-AZ" sz="5200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План доклада</a:t>
            </a:r>
            <a:endParaRPr lang="tr-TR" sz="5200" dirty="0">
              <a:solidFill>
                <a:srgbClr val="9B2D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1BCD53-7012-465A-B874-A63ACD4056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60552"/>
            <a:ext cx="410343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Что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такое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Почему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ML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важен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сегодня</a:t>
            </a: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Роль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Java в 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JVM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как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основа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для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ML-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библиотеки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для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DL4J: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обзор</a:t>
            </a: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DL4J: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пример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нейросети</a:t>
            </a: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Smile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обзор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примеры</a:t>
            </a: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8FDD65-96EB-4732-8BA4-51E08F45A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160552"/>
            <a:ext cx="563064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Weka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классические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методы</a:t>
            </a:r>
            <a:endParaRPr lang="tr-TR" altLang="tr-TR" sz="25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Tribuo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новая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библиотека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от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Oracle</a:t>
            </a:r>
            <a:endParaRPr lang="tr-TR" altLang="tr-TR" sz="25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+ 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Big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Data (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Hadoop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tr-TR" altLang="tr-TR" sz="25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Spark</a:t>
            </a: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/Kafka)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tr-TR" altLang="tr-TR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+ NLP</a:t>
            </a:r>
          </a:p>
        </p:txBody>
      </p:sp>
    </p:spTree>
    <p:extLst>
      <p:ext uri="{BB962C8B-B14F-4D97-AF65-F5344CB8AC3E}">
        <p14:creationId xmlns:p14="http://schemas.microsoft.com/office/powerpoint/2010/main" val="3903517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080296-EBB9-48A7-8C14-2E548A91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Cyrl-AZ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Что такое машинное обучение</a:t>
            </a:r>
            <a: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E64C61-EEE9-42A6-82BF-04D70FB0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Машинное обучение —это подход, при котором система учится на данных, а не программируется напрямую.</a:t>
            </a:r>
            <a:b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tr-T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Основная цель — разработать алгоритмы, способные распознавать закономерности и принимать решения на основе входных данных. </a:t>
            </a:r>
            <a:b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три основных типа: </a:t>
            </a:r>
            <a:endParaRPr lang="tr-T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учителем</a:t>
            </a:r>
            <a:endParaRPr lang="tr-T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az-Cyrl-AZ" dirty="0">
                <a:latin typeface="Cambria" panose="02040503050406030204" pitchFamily="18" charset="0"/>
                <a:ea typeface="Cambria" panose="02040503050406030204" pitchFamily="18" charset="0"/>
              </a:rPr>
              <a:t>Б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ез учителя</a:t>
            </a:r>
            <a:endParaRPr lang="tr-T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Обучение с подкреплением</a:t>
            </a:r>
            <a:endParaRPr lang="tr-T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15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B0BA7A-8463-4424-BE1C-CA3EE19E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z-Cyrl-AZ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Почему </a:t>
            </a:r>
            <a: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ML </a:t>
            </a:r>
            <a:r>
              <a:rPr lang="az-Cyrl-AZ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важен</a:t>
            </a:r>
            <a: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 </a:t>
            </a:r>
            <a:b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tr-TR" altLang="tr-TR" sz="4800" b="0" i="0" u="none" strike="noStrike" cap="none" normalizeH="0" baseline="0" dirty="0" err="1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Роль</a:t>
            </a:r>
            <a:r>
              <a:rPr kumimoji="0" lang="tr-TR" altLang="tr-TR" sz="4800" b="0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Java в ML</a:t>
            </a:r>
            <a:endParaRPr lang="tr-TR" dirty="0">
              <a:solidFill>
                <a:srgbClr val="9B2D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67154FE6-9951-4408-AE3F-17B270D59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36" y="2031841"/>
            <a:ext cx="3337901" cy="3337901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5EC90A1-8796-41CF-9C58-06BC33638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529" y="2031840"/>
            <a:ext cx="3337901" cy="3337901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2B1B8559-CB1D-41F4-AE55-2A030194F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065" y="2031840"/>
            <a:ext cx="3337901" cy="333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18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857D11-1F4D-4059-9B18-24F8117D1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Cyrl-AZ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Основные</a:t>
            </a:r>
            <a:r>
              <a:rPr lang="az-Cyrl-AZ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4800" b="0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ML-</a:t>
            </a:r>
            <a:r>
              <a:rPr kumimoji="0" lang="tr-TR" altLang="tr-TR" sz="4800" b="0" i="0" u="none" strike="noStrike" cap="none" normalizeH="0" baseline="0" dirty="0" err="1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библиотеки</a:t>
            </a:r>
            <a:r>
              <a:rPr kumimoji="0" lang="tr-TR" altLang="tr-TR" sz="4800" b="0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4800" b="0" i="0" u="none" strike="noStrike" cap="none" normalizeH="0" baseline="0" dirty="0" err="1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для</a:t>
            </a:r>
            <a:r>
              <a:rPr kumimoji="0" lang="tr-TR" altLang="tr-TR" sz="4800" b="0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Java и JVM</a:t>
            </a:r>
            <a:endParaRPr lang="tr-TR" dirty="0">
              <a:solidFill>
                <a:srgbClr val="9B2D1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05A293-E460-4F14-8B68-DBD3BA1895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15981"/>
            <a:ext cx="818739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DeepLearning4J (DL4J)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нейросети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tr-TR" altLang="tr-TR" sz="2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Smile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современная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ML-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платформа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tr-TR" altLang="tr-TR" sz="2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Weka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az-Cyrl-AZ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классические алгоритмы </a:t>
            </a:r>
            <a:r>
              <a:rPr lang="tr-T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ML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rgbClr val="9B2D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Tribuo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от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Oracle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Labs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B4891C-D9E5-4B08-8169-D5E66CE48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3781813"/>
            <a:ext cx="10058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tr-T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JVM является фундаментом, который делает использование Java в машинном обучении эффективным и удобным</a:t>
            </a:r>
            <a:r>
              <a:rPr lang="tr-TR" altLang="tr-T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tr-TR" altLang="tr-TR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JIT Compiler (</a:t>
            </a:r>
            <a:r>
              <a:rPr lang="tr-TR" sz="2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Just</a:t>
            </a:r>
            <a:r>
              <a:rPr lang="tr-T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tr-TR" sz="2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tr-T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-Time)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az-Cyrl-AZ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Стабильность</a:t>
            </a:r>
            <a:endParaRPr lang="tr-TR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az-Cyrl-AZ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Кроссплатформенность</a:t>
            </a:r>
            <a:endParaRPr lang="tr-TR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tr-TR" altLang="tr-TR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457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39FDBC-7D1A-4131-8BCB-731B91C9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DeepLearning4J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7F8C752-C485-4AB3-BCD3-15FFDC8B5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252499"/>
            <a:ext cx="3932385" cy="146407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D6AE440-18F3-437A-80E7-48B5846FB7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65372" y="2015040"/>
            <a:ext cx="535895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Поддержка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CNN, RNN, LSTM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Работа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на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GPU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Пример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использования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распознавание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изображений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Интеграция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Spark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Hadoop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3567559A-30B9-497E-9124-D26520EA7569}"/>
              </a:ext>
            </a:extLst>
          </p:cNvPr>
          <p:cNvSpPr/>
          <p:nvPr/>
        </p:nvSpPr>
        <p:spPr>
          <a:xfrm>
            <a:off x="1097280" y="4804229"/>
            <a:ext cx="1524000" cy="841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DataVec</a:t>
            </a:r>
            <a:endParaRPr lang="tr-TR" dirty="0"/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052C1460-2846-432C-86CE-B3ACF94B4092}"/>
              </a:ext>
            </a:extLst>
          </p:cNvPr>
          <p:cNvSpPr/>
          <p:nvPr/>
        </p:nvSpPr>
        <p:spPr>
          <a:xfrm>
            <a:off x="3129280" y="4804227"/>
            <a:ext cx="1524000" cy="841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ND4J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832BA67C-2B9F-4B1C-8DD9-8EE50D282564}"/>
              </a:ext>
            </a:extLst>
          </p:cNvPr>
          <p:cNvSpPr/>
          <p:nvPr/>
        </p:nvSpPr>
        <p:spPr>
          <a:xfrm>
            <a:off x="5161280" y="4804228"/>
            <a:ext cx="1524000" cy="841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Training </a:t>
            </a:r>
            <a:r>
              <a:rPr lang="tr-TR" dirty="0" err="1"/>
              <a:t>Loop</a:t>
            </a:r>
            <a:endParaRPr lang="tr-TR" dirty="0"/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CAA50C9D-4FED-401A-9E18-5F54D09B31CE}"/>
              </a:ext>
            </a:extLst>
          </p:cNvPr>
          <p:cNvSpPr/>
          <p:nvPr/>
        </p:nvSpPr>
        <p:spPr>
          <a:xfrm>
            <a:off x="7193280" y="4804226"/>
            <a:ext cx="1524000" cy="841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Model </a:t>
            </a:r>
            <a:r>
              <a:rPr lang="tr-TR" dirty="0" err="1"/>
              <a:t>Zoo</a:t>
            </a:r>
            <a:endParaRPr lang="tr-TR" dirty="0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33635BA9-DD61-4992-B54A-39C4A9F2AEF7}"/>
              </a:ext>
            </a:extLst>
          </p:cNvPr>
          <p:cNvSpPr/>
          <p:nvPr/>
        </p:nvSpPr>
        <p:spPr>
          <a:xfrm>
            <a:off x="9225280" y="4804225"/>
            <a:ext cx="1524000" cy="841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Output</a:t>
            </a:r>
            <a:r>
              <a:rPr lang="tr-TR" dirty="0"/>
              <a:t> </a:t>
            </a:r>
            <a:r>
              <a:rPr lang="tr-TR" dirty="0" err="1"/>
              <a:t>Layer</a:t>
            </a:r>
            <a:endParaRPr lang="tr-TR" dirty="0"/>
          </a:p>
        </p:txBody>
      </p: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728B81D2-5337-43DC-937E-7649F0F8F0C6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2621280" y="5225142"/>
            <a:ext cx="50800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1AB112B8-164E-40E8-B69F-975177041C5C}"/>
              </a:ext>
            </a:extLst>
          </p:cNvPr>
          <p:cNvCxnSpPr/>
          <p:nvPr/>
        </p:nvCxnSpPr>
        <p:spPr>
          <a:xfrm flipV="1">
            <a:off x="4653280" y="5225139"/>
            <a:ext cx="50800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9F3758E4-2CAE-4F06-9FCA-A7A47AFACFAE}"/>
              </a:ext>
            </a:extLst>
          </p:cNvPr>
          <p:cNvCxnSpPr/>
          <p:nvPr/>
        </p:nvCxnSpPr>
        <p:spPr>
          <a:xfrm flipV="1">
            <a:off x="6722031" y="5225137"/>
            <a:ext cx="50800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EFF53C45-C2EE-43F7-8AF3-48EDEFFA60EF}"/>
              </a:ext>
            </a:extLst>
          </p:cNvPr>
          <p:cNvCxnSpPr/>
          <p:nvPr/>
        </p:nvCxnSpPr>
        <p:spPr>
          <a:xfrm flipV="1">
            <a:off x="8717280" y="5225135"/>
            <a:ext cx="50800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39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A270DC-CAA1-43D1-AFFB-ABF8387C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Cyrl-AZ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Пример</a:t>
            </a:r>
            <a: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DL4J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1AE8BBF-9CD1-4F3D-933C-664084FDC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3953"/>
            <a:ext cx="7532988" cy="238942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85A6B94-898D-4B43-8459-FC09AFC2B1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4507434"/>
            <a:ext cx="634263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Создание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конфигурации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нейронной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сети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Добавление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DenseLayer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OutputLayer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Инициализация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MultiLayerNetwork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Обучение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модели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на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данных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(fit)</a:t>
            </a:r>
          </a:p>
        </p:txBody>
      </p:sp>
    </p:spTree>
    <p:extLst>
      <p:ext uri="{BB962C8B-B14F-4D97-AF65-F5344CB8AC3E}">
        <p14:creationId xmlns:p14="http://schemas.microsoft.com/office/powerpoint/2010/main" val="1458441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2DECA2-DA4D-495B-95A2-211AEA40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Smile</a:t>
            </a:r>
            <a:endParaRPr lang="tr-TR" dirty="0">
              <a:solidFill>
                <a:srgbClr val="9B2D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CC5C59-DFC5-4651-A9EB-10A19CFC0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Smile — одна из самых популярных и быстрых ML-библиотек для Java. Она поддерживает всё: от регрессии и кластеризации до NLP и визуализации.</a:t>
            </a:r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tr-TR" dirty="0"/>
          </a:p>
          <a:p>
            <a:r>
              <a:rPr lang="az-Cyrl-AZ" sz="2400" dirty="0">
                <a:latin typeface="Cambria" panose="02040503050406030204" pitchFamily="18" charset="0"/>
                <a:ea typeface="Cambria" panose="02040503050406030204" pitchFamily="18" charset="0"/>
              </a:rPr>
              <a:t>Линейная Регрессия</a:t>
            </a:r>
            <a:r>
              <a:rPr lang="tr-TR" sz="2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A548668-611C-4E68-95F0-28E2BD7F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834" y="3857414"/>
            <a:ext cx="8299731" cy="140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8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EE819D-CFA2-461B-928B-715A174E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Smile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A7D7B8-43DC-4965-8606-2E65CF852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26377"/>
            <a:ext cx="1457234" cy="534400"/>
          </a:xfrm>
        </p:spPr>
        <p:txBody>
          <a:bodyPr>
            <a:normAutofit/>
          </a:bodyPr>
          <a:lstStyle/>
          <a:p>
            <a:r>
              <a:rPr lang="tr-TR" sz="2400" b="1" dirty="0"/>
              <a:t>KNN: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93CBB83-80ED-4B89-908C-5F3260D21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99" y="2380134"/>
            <a:ext cx="5383191" cy="769027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5232E2E-FAD0-445A-9F1F-4E2F5B609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99" y="3683440"/>
            <a:ext cx="5935661" cy="53440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7FDEB7CA-65A1-4001-B1B6-543B2BD3C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99" y="4941257"/>
            <a:ext cx="4278471" cy="642776"/>
          </a:xfrm>
          <a:prstGeom prst="rect">
            <a:avLst/>
          </a:prstGeom>
        </p:spPr>
      </p:pic>
      <p:sp>
        <p:nvSpPr>
          <p:cNvPr id="10" name="İçerik Yer Tutucusu 2">
            <a:extLst>
              <a:ext uri="{FF2B5EF4-FFF2-40B4-BE49-F238E27FC236}">
                <a16:creationId xmlns:a16="http://schemas.microsoft.com/office/drawing/2014/main" id="{2EDDC6B8-F131-4B6A-A025-2DD34E2FAEFD}"/>
              </a:ext>
            </a:extLst>
          </p:cNvPr>
          <p:cNvSpPr txBox="1">
            <a:spLocks/>
          </p:cNvSpPr>
          <p:nvPr/>
        </p:nvSpPr>
        <p:spPr>
          <a:xfrm>
            <a:off x="1097280" y="3253466"/>
            <a:ext cx="1457234" cy="534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400" b="1" dirty="0" err="1"/>
              <a:t>Kmeans</a:t>
            </a:r>
            <a:r>
              <a:rPr lang="tr-TR" sz="2400" b="1" dirty="0"/>
              <a:t>:</a:t>
            </a:r>
          </a:p>
        </p:txBody>
      </p:sp>
      <p:sp>
        <p:nvSpPr>
          <p:cNvPr id="11" name="İçerik Yer Tutucusu 2">
            <a:extLst>
              <a:ext uri="{FF2B5EF4-FFF2-40B4-BE49-F238E27FC236}">
                <a16:creationId xmlns:a16="http://schemas.microsoft.com/office/drawing/2014/main" id="{44459CAE-DEEE-459C-8F9E-9FA060ECB31D}"/>
              </a:ext>
            </a:extLst>
          </p:cNvPr>
          <p:cNvSpPr txBox="1">
            <a:spLocks/>
          </p:cNvSpPr>
          <p:nvPr/>
        </p:nvSpPr>
        <p:spPr>
          <a:xfrm>
            <a:off x="1097280" y="4406857"/>
            <a:ext cx="1457234" cy="534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400" b="1" dirty="0"/>
              <a:t>PCA:</a:t>
            </a:r>
          </a:p>
        </p:txBody>
      </p:sp>
    </p:spTree>
    <p:extLst>
      <p:ext uri="{BB962C8B-B14F-4D97-AF65-F5344CB8AC3E}">
        <p14:creationId xmlns:p14="http://schemas.microsoft.com/office/powerpoint/2010/main" val="58195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58B158-CDC7-4FA5-97EC-29C92063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Weka</a:t>
            </a:r>
            <a:endParaRPr lang="tr-TR" dirty="0">
              <a:solidFill>
                <a:srgbClr val="9B2D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EEDF53-8146-4F4C-9BC1-161FAA78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Weka — это классический ML-инструмент, используемый в университетах. Он включает GUI для экспериментов, множество моделей и Java API. Отлично подходит, если необходимо быстро протестировать идеи.</a:t>
            </a:r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A2C7908-082D-4D51-B36B-605D2A917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824" y="4014040"/>
            <a:ext cx="3728942" cy="221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13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4295E43-E30C-4705-AABB-3FF583393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73" y="312405"/>
            <a:ext cx="7324191" cy="5717294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2AD2C6FC-410E-429E-BD72-F19E72230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762" y="754024"/>
            <a:ext cx="3749423" cy="5031004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1D2A3401-D182-4377-A6D1-355E2165B6DB}"/>
              </a:ext>
            </a:extLst>
          </p:cNvPr>
          <p:cNvSpPr txBox="1">
            <a:spLocks/>
          </p:cNvSpPr>
          <p:nvPr/>
        </p:nvSpPr>
        <p:spPr>
          <a:xfrm>
            <a:off x="7786085" y="312405"/>
            <a:ext cx="1457234" cy="53440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z-Cyrl-AZ" sz="2400" b="1" dirty="0">
                <a:solidFill>
                  <a:srgbClr val="9B2D1F"/>
                </a:solidFill>
              </a:rPr>
              <a:t>выход</a:t>
            </a:r>
            <a:r>
              <a:rPr lang="tr-TR" sz="2400" b="1" dirty="0">
                <a:solidFill>
                  <a:srgbClr val="9B2D1F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42030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CBDE7E-E356-4D3E-A052-E9E1AD47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Tribuo</a:t>
            </a:r>
            <a:endParaRPr lang="tr-TR" dirty="0">
              <a:solidFill>
                <a:srgbClr val="9B2D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C93C6E-6835-4EA1-8D25-7F1945C5E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9277"/>
            <a:ext cx="5477691" cy="3045580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Tribuo — современная библиотека Oracle, ориентированная на строгую типизацию и воспроизводимость экспериментов. Она интегрируется с ONNX и становится всё более популярной в промышленности.</a:t>
            </a:r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9E7AEF6F-86EF-4A8D-A864-98E4D52B8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4780523"/>
            <a:ext cx="2858261" cy="15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42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732AB2-493F-45A6-954E-442DAE9C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+ </a:t>
            </a:r>
            <a:r>
              <a:rPr lang="tr-TR" dirty="0" err="1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Big</a:t>
            </a:r>
            <a: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Data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A9A602-878E-400F-B05C-2D7020E6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В больших системах ML невозможен без обработки огромных объёмов данных. Hadoop, Spark, Kafka — всё это экосистема Java/Scala. Поэтому Java идеально подходит для создания end-to-end ML pipelines.</a:t>
            </a:r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CB6D00-AB5D-4D65-B04A-12C7D244C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243" y="3084865"/>
            <a:ext cx="672536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Hadoop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—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хранилище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batch-обработка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Spark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—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распределённые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вычисления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MLlib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Kafka —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стриминг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онлайн-предсказания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Всё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работает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на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JVM →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идеальная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интеграция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подходит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для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production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ML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систем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352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4700C7-4351-4313-A932-82DDA3D1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+ NLP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8798936-C6C7-4E2B-99BE-4F983DAE0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Для обработки естественного языка Java предоставляет мощные инструменты: Stanford CoreNLP, Mallet и OpenNLP. Можно выполнять разбор предложений, извлечение сущностей, тематическое моделирование и анализ тональности.</a:t>
            </a:r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097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D71CA5-F4B7-41F6-81FA-D0F9DCA33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789920" cy="3566160"/>
          </a:xfrm>
        </p:spPr>
        <p:txBody>
          <a:bodyPr/>
          <a:lstStyle/>
          <a:p>
            <a:r>
              <a:rPr lang="az-Cyrl-AZ" dirty="0">
                <a:solidFill>
                  <a:srgbClr val="9B2D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Спасибо За Внимание!</a:t>
            </a:r>
            <a:endParaRPr lang="tr-TR" dirty="0">
              <a:solidFill>
                <a:srgbClr val="9B2D1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628205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403</TotalTime>
  <Words>445</Words>
  <Application>Microsoft Office PowerPoint</Application>
  <PresentationFormat>Geniş ekran</PresentationFormat>
  <Paragraphs>70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Wingdings</vt:lpstr>
      <vt:lpstr>Geçmişe bakış</vt:lpstr>
      <vt:lpstr>Java в машинном обучении</vt:lpstr>
      <vt:lpstr>План доклада</vt:lpstr>
      <vt:lpstr>Что такое машинное обучение?</vt:lpstr>
      <vt:lpstr>Почему ML важен?  Роль Java в ML</vt:lpstr>
      <vt:lpstr>Основные ML-библиотеки для Java и JVM</vt:lpstr>
      <vt:lpstr>DeepLearning4J</vt:lpstr>
      <vt:lpstr>Пример DL4J</vt:lpstr>
      <vt:lpstr>Smile</vt:lpstr>
      <vt:lpstr>Smile</vt:lpstr>
      <vt:lpstr>Weka</vt:lpstr>
      <vt:lpstr>PowerPoint Sunusu</vt:lpstr>
      <vt:lpstr>Tribuo</vt:lpstr>
      <vt:lpstr>Java + Big Data</vt:lpstr>
      <vt:lpstr>Java + NLP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в машинном обучении</dc:title>
  <dc:creator>Mehmet Gökhan Sel</dc:creator>
  <cp:lastModifiedBy>Mehmet Gökhan Sel</cp:lastModifiedBy>
  <cp:revision>40</cp:revision>
  <dcterms:created xsi:type="dcterms:W3CDTF">2025-11-07T10:44:32Z</dcterms:created>
  <dcterms:modified xsi:type="dcterms:W3CDTF">2025-11-08T11:54:30Z</dcterms:modified>
</cp:coreProperties>
</file>